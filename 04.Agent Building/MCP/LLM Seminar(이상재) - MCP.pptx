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05" r:id="rId3"/>
    <p:sldId id="308" r:id="rId4"/>
    <p:sldId id="351" r:id="rId5"/>
    <p:sldId id="352" r:id="rId6"/>
    <p:sldId id="353" r:id="rId7"/>
    <p:sldId id="263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CE0F9-BFCE-4EFA-8220-F54093F8AAE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C2833-269B-4CE2-900E-CADC52A9C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90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C2833-269B-4CE2-900E-CADC52A9CE3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75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EDC79-6EB2-A159-4FC0-81700C21B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 b="1">
                <a:solidFill>
                  <a:srgbClr val="3E358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134204-1937-43B4-5CBA-560786A2C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3E358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E99379-F1A9-0BB8-0ADF-E261CC98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rgbClr val="3E3580"/>
                </a:solidFill>
                <a:latin typeface="+mn-lt"/>
              </a:defRPr>
            </a:lvl1pPr>
          </a:lstStyle>
          <a:p>
            <a:r>
              <a:rPr lang="en-US" altLang="ko-KR" dirty="0"/>
              <a:t>KAU FN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825AB-E145-D613-483A-5504683E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C6E8A-04E0-40E8-84F8-3792B2CE190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B9DEFD-01E0-C10F-6E86-DBEDE61E1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82" y="3602038"/>
            <a:ext cx="2801007" cy="280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5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5F5E8-AC37-E59E-E85D-83FB4C86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C6E8A-04E0-40E8-84F8-3792B2CE190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62D26FC-64C7-73EA-571F-77FED889F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744" y="206703"/>
            <a:ext cx="10978056" cy="6971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3E3580"/>
                </a:solidFill>
              </a:defRPr>
            </a:lvl1pPr>
          </a:lstStyle>
          <a:p>
            <a:r>
              <a:rPr lang="en-US" altLang="ko-KR" dirty="0"/>
              <a:t>Table of Contents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B25F86-C5AA-EBB5-F03E-ADE5783A9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07" y="5826641"/>
            <a:ext cx="831834" cy="930989"/>
          </a:xfrm>
          <a:prstGeom prst="rect">
            <a:avLst/>
          </a:prstGeom>
        </p:spPr>
      </p:pic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6AEA9311-6CA1-58AE-B2CE-22E597D0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200" b="1">
                <a:solidFill>
                  <a:srgbClr val="3E3580"/>
                </a:solidFill>
                <a:latin typeface="+mn-lt"/>
              </a:defRPr>
            </a:lvl1pPr>
          </a:lstStyle>
          <a:p>
            <a:r>
              <a:rPr lang="en-US" altLang="ko-KR" dirty="0"/>
              <a:t>KAU FN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0D92190-8C04-B466-7A47-40245CF77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44" y="1114098"/>
            <a:ext cx="10978056" cy="50344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214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4C9EE-3476-DD43-198E-43CD54EB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44" y="206703"/>
            <a:ext cx="10978056" cy="6971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3E358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98FD9-A456-48E3-1BAD-BC005FC68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44" y="1114098"/>
            <a:ext cx="10978056" cy="5034454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06BBCF-03B9-2DB7-DB89-BE9F990D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C6E8A-04E0-40E8-84F8-3792B2CE190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3B52053-2E66-E968-8080-DD7726D5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200" b="1">
                <a:solidFill>
                  <a:srgbClr val="3E3580"/>
                </a:solidFill>
                <a:latin typeface="+mn-lt"/>
              </a:defRPr>
            </a:lvl1pPr>
          </a:lstStyle>
          <a:p>
            <a:r>
              <a:rPr lang="en-US" altLang="ko-KR" dirty="0"/>
              <a:t>KAU FN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DBC3358-B146-096B-59E8-EAC65F300E21}"/>
              </a:ext>
            </a:extLst>
          </p:cNvPr>
          <p:cNvCxnSpPr>
            <a:cxnSpLocks/>
          </p:cNvCxnSpPr>
          <p:nvPr/>
        </p:nvCxnSpPr>
        <p:spPr>
          <a:xfrm>
            <a:off x="375744" y="903890"/>
            <a:ext cx="6571594" cy="0"/>
          </a:xfrm>
          <a:prstGeom prst="line">
            <a:avLst/>
          </a:prstGeom>
          <a:ln w="57150">
            <a:solidFill>
              <a:srgbClr val="3E35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CB28A349-F0D5-117F-F3C9-076127673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07" y="5826641"/>
            <a:ext cx="831834" cy="93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8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DE204E-4361-6CB3-B0CF-03C2AD24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C6E8A-04E0-40E8-84F8-3792B2CE190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2F3621B5-8B61-D568-522E-3D12C769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200" b="1">
                <a:solidFill>
                  <a:srgbClr val="3E3580"/>
                </a:solidFill>
                <a:latin typeface="+mn-lt"/>
              </a:defRPr>
            </a:lvl1pPr>
          </a:lstStyle>
          <a:p>
            <a:r>
              <a:rPr lang="en-US" altLang="ko-KR" dirty="0"/>
              <a:t>KAU FN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E0394D-F007-72CE-9D5B-0790978BC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0420"/>
            <a:ext cx="4281055" cy="4281055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7ED8FB4A-4127-091C-B5E7-41C4081E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854" y="2548679"/>
            <a:ext cx="4544292" cy="1760642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3E358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009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C0BD28-03B7-7B04-195E-A021035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664184-1123-2EB5-0A27-7F74C23DA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21D753-58B1-203E-3EB9-14E6345E5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8C9AE-CD7F-493B-869A-931B973332B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B253C4-3A7B-94CC-B70B-A3A819069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567A7B-C913-9C2E-7A8B-C2D5844E6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C6E8A-04E0-40E8-84F8-3792B2CE19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81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2641F-E411-B0F1-DA60-BF74BC666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4B2A7-FA4C-2B39-2F6C-D61A310C67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LLM Seminar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8A8782-0669-D20D-5192-F36CED434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0723"/>
            <a:ext cx="9144000" cy="1655762"/>
          </a:xfrm>
        </p:spPr>
        <p:txBody>
          <a:bodyPr/>
          <a:lstStyle/>
          <a:p>
            <a:pPr algn="ctr"/>
            <a:r>
              <a:rPr lang="en-US" altLang="ko-KR" dirty="0"/>
              <a:t>Background with CS224n</a:t>
            </a:r>
          </a:p>
          <a:p>
            <a:pPr algn="ctr"/>
            <a:r>
              <a:rPr lang="en-US" altLang="ko-KR" dirty="0"/>
              <a:t>&lt;</a:t>
            </a:r>
            <a:r>
              <a:rPr lang="en-US" altLang="ko-KR" dirty="0" err="1"/>
              <a:t>Lec</a:t>
            </a:r>
            <a:r>
              <a:rPr lang="en-US" altLang="ko-KR" dirty="0"/>
              <a:t>. 14 – Lec.15&gt;</a:t>
            </a:r>
            <a:endParaRPr lang="ko-KR" altLang="en-US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3939CDEB-8B6B-8EE8-E518-12E0756D0B6C}"/>
              </a:ext>
            </a:extLst>
          </p:cNvPr>
          <p:cNvSpPr txBox="1">
            <a:spLocks/>
          </p:cNvSpPr>
          <p:nvPr/>
        </p:nvSpPr>
        <p:spPr>
          <a:xfrm>
            <a:off x="5631255" y="4696485"/>
            <a:ext cx="630121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3E358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16 </a:t>
            </a:r>
            <a:r>
              <a:rPr lang="ko-KR" altLang="en-US" dirty="0"/>
              <a:t>소프트 이상재</a:t>
            </a:r>
          </a:p>
        </p:txBody>
      </p:sp>
    </p:spTree>
    <p:extLst>
      <p:ext uri="{BB962C8B-B14F-4D97-AF65-F5344CB8AC3E}">
        <p14:creationId xmlns:p14="http://schemas.microsoft.com/office/powerpoint/2010/main" val="288055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7D2A-69B4-AFAF-B1C9-2918B121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FA76F-EBCD-A5CE-AFD2-1D7B6382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 Agents 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B8AB1-8878-9E1F-BD05-1743370CB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Agents?</a:t>
            </a:r>
          </a:p>
          <a:p>
            <a:pPr lvl="1"/>
            <a:r>
              <a:rPr lang="ko-KR" altLang="en-US" dirty="0"/>
              <a:t>목표가 주어지면 스스로 작업을 생성</a:t>
            </a:r>
            <a:r>
              <a:rPr lang="en-US" altLang="ko-KR" dirty="0"/>
              <a:t>, </a:t>
            </a:r>
            <a:r>
              <a:rPr lang="ko-KR" altLang="en-US" dirty="0"/>
              <a:t>완료</a:t>
            </a:r>
            <a:r>
              <a:rPr lang="en-US" altLang="ko-KR" dirty="0"/>
              <a:t>, </a:t>
            </a:r>
            <a:r>
              <a:rPr lang="ko-KR" altLang="en-US" dirty="0"/>
              <a:t>새 작업을 생성하고</a:t>
            </a:r>
            <a:r>
              <a:rPr lang="en-US" altLang="ko-KR" dirty="0"/>
              <a:t>, </a:t>
            </a:r>
            <a:r>
              <a:rPr lang="ko-KR" altLang="en-US" dirty="0"/>
              <a:t>작업 목록의 우선 순위를 재조정하고</a:t>
            </a:r>
            <a:r>
              <a:rPr lang="en-US" altLang="ko-KR" dirty="0"/>
              <a:t>, </a:t>
            </a:r>
            <a:r>
              <a:rPr lang="ko-KR" altLang="en-US" dirty="0"/>
              <a:t>새로운 상위 작업을 완료하는 것을 목표에 도달할 때까지 반복할 수 있는 강력한 </a:t>
            </a:r>
            <a:r>
              <a:rPr lang="en-US" altLang="ko-KR" b="1" dirty="0"/>
              <a:t>AI </a:t>
            </a:r>
            <a:r>
              <a:rPr lang="ko-KR" altLang="en-US" b="1" dirty="0"/>
              <a:t>기반 프로그램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환경</a:t>
            </a:r>
            <a:r>
              <a:rPr lang="ko-KR" altLang="en-US" dirty="0"/>
              <a:t>으로부터 </a:t>
            </a:r>
            <a:r>
              <a:rPr lang="ko-KR" altLang="en-US" b="1" dirty="0"/>
              <a:t>관찰</a:t>
            </a:r>
            <a:r>
              <a:rPr lang="ko-KR" altLang="en-US" dirty="0"/>
              <a:t>을 받고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관찰에 근거해 </a:t>
            </a:r>
            <a:r>
              <a:rPr lang="ko-KR" altLang="en-US" b="1" dirty="0"/>
              <a:t>행동</a:t>
            </a:r>
            <a:r>
              <a:rPr lang="ko-KR" altLang="en-US" dirty="0"/>
              <a:t>을 수행 </a:t>
            </a:r>
            <a:endParaRPr lang="en-US" altLang="ko-KR" dirty="0"/>
          </a:p>
        </p:txBody>
      </p:sp>
      <p:pic>
        <p:nvPicPr>
          <p:cNvPr id="8194" name="Picture 2" descr="What is an AI agent and how it works">
            <a:extLst>
              <a:ext uri="{FF2B5EF4-FFF2-40B4-BE49-F238E27FC236}">
                <a16:creationId xmlns:a16="http://schemas.microsoft.com/office/drawing/2014/main" id="{B46C9640-9AFD-91FE-9E10-3CAB20D6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7" y="2466225"/>
            <a:ext cx="6872288" cy="426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119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00160-CD2C-73BB-5F80-25FE26AD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B99FE-9DF6-232E-4A69-0F926157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 Agents 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B05600-0ADB-86B6-831D-6F6B240FF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System Message</a:t>
            </a:r>
          </a:p>
          <a:p>
            <a:pPr lvl="1"/>
            <a:r>
              <a:rPr lang="en-US" altLang="ko-KR" sz="1400" dirty="0"/>
              <a:t>LLM </a:t>
            </a:r>
            <a:r>
              <a:rPr lang="ko-KR" altLang="ko-KR" sz="1400" dirty="0"/>
              <a:t>모델이 어떻게 동작해야 하는지를 정의하고 어떻게 상호 작용을 해야 하는지 조정하기 위해 사용되는 가이드라인</a:t>
            </a:r>
          </a:p>
          <a:p>
            <a:r>
              <a:rPr lang="en-US" altLang="ko-KR" b="1" dirty="0"/>
              <a:t>Chat-Template</a:t>
            </a:r>
          </a:p>
          <a:p>
            <a:pPr lvl="1"/>
            <a:r>
              <a:rPr lang="ko-KR" altLang="en-US" sz="1400" dirty="0"/>
              <a:t>모델이 이해할 수 있는 일관된 형식으로 프롬프트를 구성할 수 있게 사용되는 형식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/>
              <a:t>위는 </a:t>
            </a:r>
            <a:r>
              <a:rPr lang="en-US" altLang="ko-KR" sz="1400" dirty="0"/>
              <a:t>Llama 3.2 </a:t>
            </a:r>
            <a:r>
              <a:rPr lang="ko-KR" altLang="en-US" sz="1400" dirty="0"/>
              <a:t>에서 사용되는 </a:t>
            </a:r>
            <a:r>
              <a:rPr lang="en-US" altLang="ko-KR" sz="1400" dirty="0"/>
              <a:t>Chat-Template</a:t>
            </a:r>
            <a:r>
              <a:rPr lang="ko-KR" altLang="en-US" sz="1400" dirty="0"/>
              <a:t>으로 </a:t>
            </a:r>
            <a:r>
              <a:rPr lang="en-US" altLang="ko-KR" sz="1400" dirty="0"/>
              <a:t>&lt;|</a:t>
            </a:r>
            <a:r>
              <a:rPr lang="en-US" altLang="ko-KR" sz="1400" dirty="0" err="1"/>
              <a:t>start_header_id</a:t>
            </a:r>
            <a:r>
              <a:rPr lang="en-US" altLang="ko-KR" sz="1400" dirty="0"/>
              <a:t>|&gt;…&lt;|</a:t>
            </a:r>
            <a:r>
              <a:rPr lang="en-US" altLang="ko-KR" sz="1400" dirty="0" err="1"/>
              <a:t>end_header_id</a:t>
            </a:r>
            <a:r>
              <a:rPr lang="en-US" altLang="ko-KR" sz="1400" dirty="0"/>
              <a:t>|&gt; </a:t>
            </a:r>
            <a:r>
              <a:rPr lang="ko-KR" altLang="en-US" sz="1400" dirty="0"/>
              <a:t>사이에 </a:t>
            </a:r>
            <a:r>
              <a:rPr lang="en-US" altLang="ko-KR" sz="1400" dirty="0"/>
              <a:t>user, system, assistant </a:t>
            </a:r>
            <a:r>
              <a:rPr lang="ko-KR" altLang="en-US" sz="1400" dirty="0"/>
              <a:t>등 역할을 넣어 모델에게 대화의 맥락을 알려줌</a:t>
            </a:r>
            <a:endParaRPr lang="en-US" altLang="ko-KR" sz="1400" dirty="0"/>
          </a:p>
          <a:p>
            <a:pPr lvl="1"/>
            <a:r>
              <a:rPr lang="en-US" altLang="ko-KR" sz="1400" dirty="0"/>
              <a:t>LLM </a:t>
            </a:r>
            <a:r>
              <a:rPr lang="ko-KR" altLang="en-US" sz="1400" dirty="0"/>
              <a:t>모델마다 </a:t>
            </a:r>
            <a:r>
              <a:rPr lang="en-US" altLang="ko-KR" sz="1400" dirty="0"/>
              <a:t>fine-tuning</a:t>
            </a:r>
            <a:r>
              <a:rPr lang="ko-KR" altLang="en-US" sz="1400" dirty="0"/>
              <a:t>에 사용된 </a:t>
            </a:r>
            <a:r>
              <a:rPr lang="en-US" altLang="ko-KR" sz="1400" dirty="0"/>
              <a:t>Chat-Template</a:t>
            </a:r>
            <a:r>
              <a:rPr lang="ko-KR" altLang="en-US" sz="1400" dirty="0"/>
              <a:t>이 달라 성능에도 영향을 줌</a:t>
            </a: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26B609-DC52-E3A2-390D-6F45E4707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4" y="2570424"/>
            <a:ext cx="7070889" cy="242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0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63A3-D589-261B-4878-5D70F839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38BBD2-572D-01CB-6558-5892256C9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 Agents 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2C8939-A1B2-54F6-57FB-320441C3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Tool</a:t>
            </a:r>
          </a:p>
          <a:p>
            <a:pPr lvl="1"/>
            <a:r>
              <a:rPr lang="en-US" altLang="ko-KR" sz="1600" dirty="0"/>
              <a:t>LLM</a:t>
            </a:r>
            <a:r>
              <a:rPr lang="ko-KR" altLang="en-US" sz="1600" dirty="0"/>
              <a:t>이 목표를 달성하기 위해 주어진 기능</a:t>
            </a:r>
            <a:endParaRPr lang="en-US" altLang="ko-KR" sz="1600" dirty="0"/>
          </a:p>
          <a:p>
            <a:pPr lvl="1"/>
            <a:r>
              <a:rPr lang="en-US" altLang="ko-KR" sz="1600" dirty="0"/>
              <a:t>LLM</a:t>
            </a:r>
            <a:r>
              <a:rPr lang="ko-KR" altLang="en-US" sz="1600" dirty="0"/>
              <a:t>이 모델을 사용하기 위해서는 다음과 같은 내용이 포함되어야 함</a:t>
            </a:r>
            <a:endParaRPr lang="en-US" altLang="ko-KR" sz="1600" dirty="0"/>
          </a:p>
          <a:p>
            <a:pPr lvl="2"/>
            <a:r>
              <a:rPr lang="ko-KR" altLang="en-US" sz="1400" b="1" dirty="0"/>
              <a:t>함수의 기능을 설명하는 텍스트</a:t>
            </a:r>
            <a:endParaRPr lang="en-US" altLang="ko-KR" sz="1400" b="1" dirty="0"/>
          </a:p>
          <a:p>
            <a:pPr lvl="2"/>
            <a:r>
              <a:rPr lang="ko-KR" altLang="en-US" sz="1400" b="1" dirty="0"/>
              <a:t>호출 가능한 객체</a:t>
            </a:r>
            <a:endParaRPr lang="en-US" altLang="ko-KR" sz="1400" b="1" dirty="0"/>
          </a:p>
          <a:p>
            <a:pPr lvl="2"/>
            <a:r>
              <a:rPr lang="ko-KR" altLang="en-US" sz="1400" b="1" dirty="0"/>
              <a:t>인수와 인수의 </a:t>
            </a:r>
            <a:r>
              <a:rPr lang="en-US" altLang="ko-KR" sz="1400" b="1" dirty="0"/>
              <a:t>type</a:t>
            </a:r>
          </a:p>
          <a:p>
            <a:pPr lvl="2"/>
            <a:r>
              <a:rPr lang="en-US" altLang="ko-KR" sz="1400" b="1" dirty="0"/>
              <a:t>Output</a:t>
            </a:r>
            <a:r>
              <a:rPr lang="ko-KR" altLang="en-US" sz="1400" b="1" dirty="0"/>
              <a:t>의 형식</a:t>
            </a:r>
            <a:endParaRPr lang="en-US" altLang="ko-KR" sz="1400" b="1" dirty="0"/>
          </a:p>
          <a:p>
            <a:pPr lvl="1"/>
            <a:r>
              <a:rPr lang="ko-KR" altLang="en-US" sz="1500" b="1" dirty="0"/>
              <a:t>모델은 자체적으로 </a:t>
            </a:r>
            <a:r>
              <a:rPr lang="en-US" altLang="ko-KR" sz="1500" b="1" dirty="0"/>
              <a:t>Tool</a:t>
            </a:r>
            <a:r>
              <a:rPr lang="ko-KR" altLang="en-US" sz="1500" b="1" dirty="0"/>
              <a:t>을 호출하지 못하며 </a:t>
            </a:r>
            <a:r>
              <a:rPr lang="en-US" altLang="ko-KR" sz="1500" b="1" dirty="0"/>
              <a:t>Agent</a:t>
            </a:r>
            <a:r>
              <a:rPr lang="ko-KR" altLang="en-US" sz="1500" b="1" dirty="0" err="1"/>
              <a:t>를구성한다는</a:t>
            </a:r>
            <a:r>
              <a:rPr lang="ko-KR" altLang="en-US" sz="1500" b="1" dirty="0"/>
              <a:t> 것은 모델에게 도구의 존재를 알려주고</a:t>
            </a:r>
            <a:endParaRPr lang="en-US" altLang="ko-KR" sz="1500" b="1" dirty="0"/>
          </a:p>
          <a:p>
            <a:pPr marL="457200" lvl="1" indent="0">
              <a:buNone/>
            </a:pPr>
            <a:r>
              <a:rPr lang="ko-KR" altLang="en-US" sz="1500" b="1" dirty="0"/>
              <a:t>텍스트 기반 호출을 생성할 수 있도록 지시하는 것</a:t>
            </a:r>
            <a:endParaRPr lang="en-US" altLang="ko-KR" sz="1500" b="1" dirty="0"/>
          </a:p>
          <a:p>
            <a:pPr marL="457200" lvl="1" indent="0">
              <a:buNone/>
            </a:pPr>
            <a:endParaRPr lang="en-US" altLang="ko-KR" sz="1500" b="1" dirty="0"/>
          </a:p>
          <a:p>
            <a:pPr lvl="1"/>
            <a:r>
              <a:rPr lang="ko-KR" altLang="en-US" sz="1500" dirty="0"/>
              <a:t>이전에서 다뤘던 </a:t>
            </a:r>
            <a:r>
              <a:rPr lang="en-US" altLang="ko-KR" sz="1500" dirty="0"/>
              <a:t>MCP</a:t>
            </a:r>
            <a:r>
              <a:rPr lang="ko-KR" altLang="en-US" sz="1500" dirty="0"/>
              <a:t>는 </a:t>
            </a:r>
            <a:r>
              <a:rPr lang="en-US" altLang="ko-KR" sz="1500" b="1" dirty="0"/>
              <a:t>LLM</a:t>
            </a:r>
            <a:r>
              <a:rPr lang="ko-KR" altLang="en-US" sz="1500" b="1" dirty="0"/>
              <a:t>에게 </a:t>
            </a:r>
            <a:r>
              <a:rPr lang="en-US" altLang="ko-KR" sz="1500" b="1" dirty="0"/>
              <a:t>Tool</a:t>
            </a:r>
            <a:r>
              <a:rPr lang="ko-KR" altLang="en-US" sz="1500" b="1" dirty="0"/>
              <a:t>을 제공하는</a:t>
            </a:r>
            <a:endParaRPr lang="en-US" altLang="ko-KR" sz="1500" b="1" dirty="0"/>
          </a:p>
          <a:p>
            <a:pPr marL="457200" lvl="1" indent="0">
              <a:buNone/>
            </a:pPr>
            <a:r>
              <a:rPr lang="ko-KR" altLang="en-US" sz="1500" b="1" dirty="0"/>
              <a:t>방식을 표준화한 프로토콜</a:t>
            </a:r>
            <a:endParaRPr lang="en-US" altLang="ko-KR" sz="1500" b="1" dirty="0"/>
          </a:p>
          <a:p>
            <a:pPr lvl="2"/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C2827C-4062-339C-3EEC-306876462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5817122" cy="331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6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DBEE-2A99-72DC-2DAE-D6B0C8C7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1420E-0874-D20C-3DD1-B77ED46A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 Agents 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46F0D-5C9D-6D3D-1E58-E0BCF3826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sz="1600" dirty="0"/>
          </a:p>
        </p:txBody>
      </p:sp>
      <p:pic>
        <p:nvPicPr>
          <p:cNvPr id="1026" name="Picture 2" descr="생각하고, 행동하고, 관찰하는 순환 과정">
            <a:extLst>
              <a:ext uri="{FF2B5EF4-FFF2-40B4-BE49-F238E27FC236}">
                <a16:creationId xmlns:a16="http://schemas.microsoft.com/office/drawing/2014/main" id="{FB074A59-D8CB-EA51-8671-772741132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965" y="1114098"/>
            <a:ext cx="9758070" cy="548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62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21F0B-927A-2F1E-25E0-7780F801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BC168-7AD9-71C7-D00B-D77FCDE8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 Agents Intro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CC26283-4102-92BB-1369-46B61798C76E}"/>
              </a:ext>
            </a:extLst>
          </p:cNvPr>
          <p:cNvSpPr txBox="1">
            <a:spLocks/>
          </p:cNvSpPr>
          <p:nvPr/>
        </p:nvSpPr>
        <p:spPr>
          <a:xfrm>
            <a:off x="528144" y="1266498"/>
            <a:ext cx="10978056" cy="5034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err="1"/>
              <a:t>CoT</a:t>
            </a:r>
            <a:r>
              <a:rPr lang="en-US" altLang="ko-KR" b="1" dirty="0"/>
              <a:t> vs React</a:t>
            </a:r>
          </a:p>
          <a:p>
            <a:pPr lvl="1"/>
            <a:r>
              <a:rPr lang="en-US" altLang="ko-KR" sz="1600" dirty="0"/>
              <a:t>LLM</a:t>
            </a:r>
            <a:r>
              <a:rPr lang="ko-KR" altLang="en-US" sz="1600" dirty="0"/>
              <a:t>이 목표를 달성하기 위해 주어진 기능</a:t>
            </a:r>
            <a:endParaRPr lang="en-US" altLang="ko-KR" sz="1600" dirty="0"/>
          </a:p>
          <a:p>
            <a:pPr lvl="1"/>
            <a:r>
              <a:rPr lang="en-US" altLang="ko-KR" sz="1600" dirty="0"/>
              <a:t>LLM</a:t>
            </a:r>
            <a:r>
              <a:rPr lang="ko-KR" altLang="en-US" sz="1600" dirty="0"/>
              <a:t>이 모델을 사용하기 위해서는 다음과 같은 내용이 포함되어야 함</a:t>
            </a:r>
            <a:endParaRPr lang="en-US" altLang="ko-KR" sz="1600" dirty="0"/>
          </a:p>
          <a:p>
            <a:pPr lvl="2"/>
            <a:r>
              <a:rPr lang="ko-KR" altLang="en-US" sz="1400" b="1" dirty="0"/>
              <a:t>함수의 기능을 설명하는 텍스트</a:t>
            </a:r>
            <a:endParaRPr lang="en-US" altLang="ko-KR" sz="1400" b="1" dirty="0"/>
          </a:p>
          <a:p>
            <a:pPr lvl="2"/>
            <a:r>
              <a:rPr lang="ko-KR" altLang="en-US" sz="1400" b="1" dirty="0"/>
              <a:t>호출 가능한 객체</a:t>
            </a:r>
            <a:endParaRPr lang="en-US" altLang="ko-KR" sz="1400" b="1" dirty="0"/>
          </a:p>
          <a:p>
            <a:pPr lvl="2"/>
            <a:r>
              <a:rPr lang="ko-KR" altLang="en-US" sz="1400" b="1" dirty="0"/>
              <a:t>인수와 인수의 </a:t>
            </a:r>
            <a:r>
              <a:rPr lang="en-US" altLang="ko-KR" sz="1400" b="1" dirty="0"/>
              <a:t>type</a:t>
            </a:r>
          </a:p>
          <a:p>
            <a:pPr lvl="2"/>
            <a:r>
              <a:rPr lang="en-US" altLang="ko-KR" sz="1400" b="1" dirty="0"/>
              <a:t>Output</a:t>
            </a:r>
            <a:r>
              <a:rPr lang="ko-KR" altLang="en-US" sz="1400" b="1" dirty="0"/>
              <a:t>의 형식</a:t>
            </a:r>
            <a:endParaRPr lang="en-US" altLang="ko-KR" sz="1400" b="1" dirty="0"/>
          </a:p>
          <a:p>
            <a:pPr lvl="1"/>
            <a:r>
              <a:rPr lang="ko-KR" altLang="en-US" sz="1500" b="1" dirty="0"/>
              <a:t>모델은 자체적으로 </a:t>
            </a:r>
            <a:r>
              <a:rPr lang="en-US" altLang="ko-KR" sz="1500" b="1" dirty="0"/>
              <a:t>Tool</a:t>
            </a:r>
            <a:r>
              <a:rPr lang="ko-KR" altLang="en-US" sz="1500" b="1" dirty="0"/>
              <a:t>을 호출하지 못하며 </a:t>
            </a:r>
            <a:r>
              <a:rPr lang="en-US" altLang="ko-KR" sz="1500" b="1" dirty="0"/>
              <a:t>Agent</a:t>
            </a:r>
            <a:r>
              <a:rPr lang="ko-KR" altLang="en-US" sz="1500" b="1" dirty="0" err="1"/>
              <a:t>를구성한다는</a:t>
            </a:r>
            <a:r>
              <a:rPr lang="ko-KR" altLang="en-US" sz="1500" b="1" dirty="0"/>
              <a:t> 것은 모델에게 도구의 존재를 알려주고</a:t>
            </a:r>
            <a:endParaRPr lang="en-US" altLang="ko-KR" sz="1500" b="1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1500" b="1" dirty="0"/>
              <a:t>텍스트 기반 호출을 생성할 수 있도록 지시하는 것</a:t>
            </a:r>
            <a:endParaRPr lang="en-US" altLang="ko-KR" sz="1500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sz="1500" b="1" dirty="0"/>
          </a:p>
          <a:p>
            <a:pPr lvl="1"/>
            <a:r>
              <a:rPr lang="ko-KR" altLang="en-US" sz="1500" dirty="0"/>
              <a:t>이전에서 다뤘던 </a:t>
            </a:r>
            <a:r>
              <a:rPr lang="en-US" altLang="ko-KR" sz="1500" dirty="0"/>
              <a:t>MCP</a:t>
            </a:r>
            <a:r>
              <a:rPr lang="ko-KR" altLang="en-US" sz="1500" dirty="0"/>
              <a:t>는 </a:t>
            </a:r>
            <a:r>
              <a:rPr lang="en-US" altLang="ko-KR" sz="1500" b="1" dirty="0"/>
              <a:t>LLM</a:t>
            </a:r>
            <a:r>
              <a:rPr lang="ko-KR" altLang="en-US" sz="1500" b="1" dirty="0"/>
              <a:t>에게 </a:t>
            </a:r>
            <a:r>
              <a:rPr lang="en-US" altLang="ko-KR" sz="1500" b="1" dirty="0"/>
              <a:t>Tool</a:t>
            </a:r>
            <a:r>
              <a:rPr lang="ko-KR" altLang="en-US" sz="1500" b="1" dirty="0"/>
              <a:t>을 제공하는</a:t>
            </a:r>
            <a:endParaRPr lang="en-US" altLang="ko-KR" sz="1500" b="1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1500" b="1" dirty="0"/>
              <a:t>방식을 표준화한 프로토콜</a:t>
            </a:r>
            <a:endParaRPr lang="en-US" altLang="ko-KR" sz="1500" b="1" dirty="0"/>
          </a:p>
          <a:p>
            <a:pPr lvl="2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2316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4C0426-DDB3-C32C-2183-7817B4C9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1-2 LLM’s</a:t>
            </a:r>
            <a:r>
              <a:rPr lang="ko-KR" altLang="en-US" dirty="0"/>
              <a:t> </a:t>
            </a:r>
            <a:r>
              <a:rPr lang="en-US" altLang="ko-KR" dirty="0"/>
              <a:t>Reasoning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65D73D-CD21-3761-4FE6-FA9CFCBBA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In-Context Learning </a:t>
            </a:r>
          </a:p>
          <a:p>
            <a:r>
              <a:rPr lang="ko-KR" altLang="en-US" dirty="0"/>
              <a:t>예시를 통해 </a:t>
            </a:r>
            <a:r>
              <a:rPr lang="ko-KR" altLang="en-US" b="1" dirty="0"/>
              <a:t>이미 학습된 모델</a:t>
            </a:r>
            <a:r>
              <a:rPr lang="ko-KR" altLang="en-US" dirty="0"/>
              <a:t>에게 새로운 문제의 정답을 예측할 수 있는 방법론</a:t>
            </a:r>
            <a:endParaRPr lang="en-US" altLang="ko-KR" dirty="0"/>
          </a:p>
          <a:p>
            <a:pPr lvl="1"/>
            <a:r>
              <a:rPr lang="en-US" altLang="ko-KR" dirty="0"/>
              <a:t>Fine</a:t>
            </a:r>
            <a:r>
              <a:rPr lang="ko-KR" altLang="en-US" dirty="0"/>
              <a:t> </a:t>
            </a:r>
            <a:r>
              <a:rPr lang="en-US" altLang="ko-KR" dirty="0"/>
              <a:t>Tuning</a:t>
            </a:r>
            <a:r>
              <a:rPr lang="ko-KR" altLang="en-US" dirty="0"/>
              <a:t>과 비교됨</a:t>
            </a:r>
            <a:endParaRPr lang="en-US" altLang="ko-KR" dirty="0"/>
          </a:p>
          <a:p>
            <a:pPr lvl="2"/>
            <a:r>
              <a:rPr lang="en-US" altLang="ko-KR" dirty="0"/>
              <a:t>Fine Tuning</a:t>
            </a:r>
            <a:r>
              <a:rPr lang="ko-KR" altLang="en-US" dirty="0"/>
              <a:t>과 다르게 </a:t>
            </a:r>
            <a:r>
              <a:rPr lang="ko-KR" altLang="en-US" dirty="0" err="1"/>
              <a:t>재학습</a:t>
            </a:r>
            <a:r>
              <a:rPr lang="ko-KR" altLang="en-US" dirty="0"/>
              <a:t> 필요</a:t>
            </a:r>
            <a:r>
              <a:rPr lang="en-US" altLang="ko-KR" dirty="0"/>
              <a:t>X</a:t>
            </a:r>
          </a:p>
          <a:p>
            <a:pPr marL="914400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Few Shot Learning </a:t>
            </a:r>
          </a:p>
          <a:p>
            <a:pPr lvl="2"/>
            <a:r>
              <a:rPr lang="ko-KR" altLang="en-US" dirty="0"/>
              <a:t>전체 데이터가 아닌 </a:t>
            </a:r>
            <a:r>
              <a:rPr lang="ko-KR" altLang="en-US" b="1" dirty="0"/>
              <a:t>일정 데이터</a:t>
            </a:r>
            <a:r>
              <a:rPr lang="en-US" altLang="ko-KR" b="1" dirty="0"/>
              <a:t>(ICL</a:t>
            </a:r>
            <a:r>
              <a:rPr lang="ko-KR" altLang="en-US" b="1" dirty="0"/>
              <a:t>에서는 예시</a:t>
            </a:r>
            <a:r>
              <a:rPr lang="en-US" altLang="ko-KR" b="1" dirty="0"/>
              <a:t>)</a:t>
            </a:r>
            <a:r>
              <a:rPr lang="ko-KR" altLang="en-US" b="1" dirty="0"/>
              <a:t>만으로 결론 도출</a:t>
            </a:r>
            <a:r>
              <a:rPr lang="ko-KR" altLang="en-US" dirty="0"/>
              <a:t>이 가능하므로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/>
              <a:t>   일종의 </a:t>
            </a:r>
            <a:r>
              <a:rPr lang="en-US" altLang="ko-KR" dirty="0"/>
              <a:t>Few-Shot Learning</a:t>
            </a:r>
            <a:r>
              <a:rPr lang="ko-KR" altLang="en-US" dirty="0"/>
              <a:t>이라 볼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왜 되는지</a:t>
            </a:r>
            <a:r>
              <a:rPr lang="en-US" altLang="ko-KR" dirty="0"/>
              <a:t>(</a:t>
            </a:r>
            <a:r>
              <a:rPr lang="ko-KR" altLang="en-US" dirty="0"/>
              <a:t>작동 메커니즘</a:t>
            </a:r>
            <a:r>
              <a:rPr lang="en-US" altLang="ko-KR" dirty="0"/>
              <a:t>)</a:t>
            </a:r>
            <a:r>
              <a:rPr lang="ko-KR" altLang="en-US" dirty="0"/>
              <a:t>에 대해 정확한 파악</a:t>
            </a:r>
            <a:r>
              <a:rPr lang="en-US" altLang="ko-KR" dirty="0"/>
              <a:t>x</a:t>
            </a:r>
          </a:p>
          <a:p>
            <a:pPr lvl="2"/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Self-Attention</a:t>
            </a:r>
            <a:r>
              <a:rPr lang="ko-KR" altLang="en-US" dirty="0"/>
              <a:t>이 프롬프트 내 예시를 패턴으로 보고</a:t>
            </a:r>
            <a:r>
              <a:rPr lang="en-US" altLang="ko-KR" dirty="0"/>
              <a:t>, </a:t>
            </a:r>
            <a:r>
              <a:rPr lang="ko-KR" altLang="en-US" dirty="0"/>
              <a:t>이를 새로운 입력에 적용하는 “유사 기억</a:t>
            </a:r>
            <a:r>
              <a:rPr lang="en-US" altLang="ko-KR" dirty="0"/>
              <a:t>(Memory)” </a:t>
            </a:r>
            <a:r>
              <a:rPr lang="ko-KR" altLang="en-US" dirty="0"/>
              <a:t>역할을 한다는 가설</a:t>
            </a:r>
            <a:endParaRPr lang="en-US" altLang="ko-KR" dirty="0"/>
          </a:p>
          <a:p>
            <a:pPr lvl="2"/>
            <a:r>
              <a:rPr lang="ko-KR" altLang="en-US" dirty="0"/>
              <a:t>모델 내부에서 </a:t>
            </a:r>
            <a:r>
              <a:rPr lang="ko-KR" altLang="en-US" b="1" dirty="0"/>
              <a:t>프롬프트 자체가 가상의 파라미터 업데이트 역할</a:t>
            </a:r>
            <a:r>
              <a:rPr lang="ko-KR" altLang="en-US" dirty="0"/>
              <a:t>을 하여 특정 태스크에 적응한다는 가설</a:t>
            </a:r>
            <a:endParaRPr lang="en-US" altLang="ko-K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EFF422-7537-53EF-8219-B67DACA8F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50" y="1948286"/>
            <a:ext cx="3003668" cy="148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86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F3FB-D03B-8F3A-5840-8FCF8304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DD5BA-C7EF-97D3-12B0-8BC7BF34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1-2 LLM’s</a:t>
            </a:r>
            <a:r>
              <a:rPr lang="ko-KR" altLang="en-US" dirty="0"/>
              <a:t> </a:t>
            </a:r>
            <a:r>
              <a:rPr lang="en-US" altLang="ko-KR" dirty="0"/>
              <a:t>Reasoning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3CF53-4214-E5BB-A572-D015C62C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Chaing of </a:t>
            </a:r>
            <a:r>
              <a:rPr lang="en-US" altLang="ko-KR" b="1" dirty="0" err="1"/>
              <a:t>Thoungt</a:t>
            </a:r>
            <a:r>
              <a:rPr lang="en-US" altLang="ko-KR" b="1" dirty="0"/>
              <a:t>(</a:t>
            </a:r>
            <a:r>
              <a:rPr lang="en-US" altLang="ko-KR" b="1" dirty="0" err="1"/>
              <a:t>CoT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ICL(In-Context-Learning)</a:t>
            </a:r>
            <a:r>
              <a:rPr lang="ko-KR" altLang="en-US" dirty="0"/>
              <a:t>방식에서 제시해주는 예제에 </a:t>
            </a:r>
            <a:r>
              <a:rPr lang="ko-KR" altLang="en-US" b="1" dirty="0"/>
              <a:t>해답 뿐만 아니라 추론과정</a:t>
            </a:r>
            <a:r>
              <a:rPr lang="ko-KR" altLang="en-US" dirty="0"/>
              <a:t>을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포함하는 방식 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2050" name="Picture 2" descr="그림2. Chain of Thought Prompting 예시">
            <a:extLst>
              <a:ext uri="{FF2B5EF4-FFF2-40B4-BE49-F238E27FC236}">
                <a16:creationId xmlns:a16="http://schemas.microsoft.com/office/drawing/2014/main" id="{8AC2FF86-BCD8-1289-A2B1-512A7AAD1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78" y="3649106"/>
            <a:ext cx="6045066" cy="270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8926D9D-6B3B-8E7E-95A4-94B5CAC5E62E}"/>
              </a:ext>
            </a:extLst>
          </p:cNvPr>
          <p:cNvSpPr txBox="1">
            <a:spLocks/>
          </p:cNvSpPr>
          <p:nvPr/>
        </p:nvSpPr>
        <p:spPr>
          <a:xfrm>
            <a:off x="375744" y="2329335"/>
            <a:ext cx="11656311" cy="39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dirty="0" err="1"/>
              <a:t>CoT</a:t>
            </a:r>
            <a:r>
              <a:rPr lang="ko-KR" altLang="en-US" dirty="0"/>
              <a:t>를 통해 수학 문제</a:t>
            </a:r>
            <a:r>
              <a:rPr lang="en-US" altLang="ko-KR" dirty="0"/>
              <a:t>, </a:t>
            </a:r>
            <a:r>
              <a:rPr lang="ko-KR" altLang="en-US" dirty="0"/>
              <a:t>기호추론 문제와 같이 </a:t>
            </a:r>
            <a:r>
              <a:rPr lang="ko-KR" altLang="en-US" b="1" dirty="0"/>
              <a:t>복잡한 추론이 필요하여 </a:t>
            </a:r>
            <a:r>
              <a:rPr lang="en-US" altLang="ko-KR" b="1" dirty="0"/>
              <a:t>LLM</a:t>
            </a:r>
            <a:r>
              <a:rPr lang="ko-KR" altLang="en-US" b="1" dirty="0"/>
              <a:t>이 약했던 분야</a:t>
            </a:r>
            <a:r>
              <a:rPr lang="ko-KR" altLang="en-US" dirty="0"/>
              <a:t>에서 뛰어난 성능 향상을 보임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모델의 추론과정을 확인할 수 있어 모델에 대한 이해 향상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                                                             </a:t>
            </a:r>
          </a:p>
          <a:p>
            <a:pPr lvl="1"/>
            <a:endParaRPr lang="en-US" altLang="ko-K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F991261-D534-C6B7-A30B-E99B31DE5038}"/>
              </a:ext>
            </a:extLst>
          </p:cNvPr>
          <p:cNvSpPr txBox="1">
            <a:spLocks/>
          </p:cNvSpPr>
          <p:nvPr/>
        </p:nvSpPr>
        <p:spPr>
          <a:xfrm>
            <a:off x="6674906" y="3754780"/>
            <a:ext cx="5018021" cy="2393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/>
              <a:t>모델에 제공하는 </a:t>
            </a:r>
            <a:r>
              <a:rPr lang="en-US" altLang="ko-KR" dirty="0"/>
              <a:t>Few Shot Sample</a:t>
            </a:r>
            <a:r>
              <a:rPr lang="ko-KR" altLang="en-US" dirty="0"/>
              <a:t>에 따라 추론 성능이 크게 좌우됨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기존 </a:t>
            </a:r>
            <a:r>
              <a:rPr lang="en-US" altLang="ko-KR" dirty="0"/>
              <a:t>Few Shot Learning</a:t>
            </a:r>
            <a:r>
              <a:rPr lang="ko-KR" altLang="en-US" dirty="0"/>
              <a:t>과 같이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Supervised Learning </a:t>
            </a:r>
            <a:r>
              <a:rPr lang="ko-KR" altLang="en-US" dirty="0"/>
              <a:t>데이터셋을 사람이 제작 해야함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                                                             </a:t>
            </a:r>
          </a:p>
          <a:p>
            <a:pPr lvl="1"/>
            <a:endParaRPr lang="en-US" altLang="ko-K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BD6503A-51E7-C0E2-8B44-6C939457AAA5}"/>
              </a:ext>
            </a:extLst>
          </p:cNvPr>
          <p:cNvSpPr txBox="1">
            <a:spLocks/>
          </p:cNvSpPr>
          <p:nvPr/>
        </p:nvSpPr>
        <p:spPr>
          <a:xfrm>
            <a:off x="375743" y="2329335"/>
            <a:ext cx="11656311" cy="39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dirty="0" err="1"/>
              <a:t>CoT</a:t>
            </a:r>
            <a:r>
              <a:rPr lang="ko-KR" altLang="en-US" dirty="0"/>
              <a:t>를 통해 수학 문제</a:t>
            </a:r>
            <a:r>
              <a:rPr lang="en-US" altLang="ko-KR" dirty="0"/>
              <a:t>, </a:t>
            </a:r>
            <a:r>
              <a:rPr lang="ko-KR" altLang="en-US" dirty="0"/>
              <a:t>기호추론 문제와 같이 </a:t>
            </a:r>
            <a:r>
              <a:rPr lang="ko-KR" altLang="en-US" b="1" dirty="0"/>
              <a:t>복잡한 추론이 필요하여 </a:t>
            </a:r>
            <a:r>
              <a:rPr lang="en-US" altLang="ko-KR" b="1" dirty="0"/>
              <a:t>LLM</a:t>
            </a:r>
            <a:r>
              <a:rPr lang="ko-KR" altLang="en-US" b="1" dirty="0"/>
              <a:t>이 약했던 분야</a:t>
            </a:r>
            <a:r>
              <a:rPr lang="ko-KR" altLang="en-US" dirty="0"/>
              <a:t>에서 뛰어난 성능 향상을 보임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모델의 추론과정을 확인할 수 있어 모델에 대한 이해 향상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                                                             </a:t>
            </a:r>
          </a:p>
          <a:p>
            <a:pPr lvl="1"/>
            <a:endParaRPr lang="en-US" altLang="ko-K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54020280"/>
      </p:ext>
    </p:extLst>
  </p:cSld>
  <p:clrMapOvr>
    <a:masterClrMapping/>
  </p:clrMapOvr>
</p:sld>
</file>

<file path=ppt/theme/theme1.xml><?xml version="1.0" encoding="utf-8"?>
<a:theme xmlns:a="http://schemas.openxmlformats.org/drawingml/2006/main" name="KAU_FN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AU_FN_Theme" id="{D426B648-A588-4728-A92B-E7ADFB7CA909}" vid="{CB212F0C-E116-4FB1-9724-717E30F1115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KAU_FN_Theme</Template>
  <TotalTime>2572</TotalTime>
  <Words>488</Words>
  <Application>Microsoft Office PowerPoint</Application>
  <PresentationFormat>와이드스크린</PresentationFormat>
  <Paragraphs>91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KAU_FN_Theme</vt:lpstr>
      <vt:lpstr>LLM Seminar</vt:lpstr>
      <vt:lpstr>2-1 Agents Intro</vt:lpstr>
      <vt:lpstr>2-1 Agents Intro</vt:lpstr>
      <vt:lpstr>2-1 Agents Intro</vt:lpstr>
      <vt:lpstr>2-1 Agents Intro</vt:lpstr>
      <vt:lpstr>2-1 Agents Intro</vt:lpstr>
      <vt:lpstr>1-2 LLM’s Reasoning</vt:lpstr>
      <vt:lpstr>1-2 LLM’s Reasoning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상재 이</dc:creator>
  <cp:lastModifiedBy>상재 이</cp:lastModifiedBy>
  <cp:revision>89</cp:revision>
  <dcterms:created xsi:type="dcterms:W3CDTF">2025-08-23T08:32:39Z</dcterms:created>
  <dcterms:modified xsi:type="dcterms:W3CDTF">2026-05-10T02:00:34Z</dcterms:modified>
</cp:coreProperties>
</file>